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aomegale/Documents/Projetos/CaseBarte/DocsVantara/solucao/vantara-concilia/assets/vantara-concili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3383280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150876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 + ARQUITETURA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201168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Vantara Concilia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27889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C7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identidade financeira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0C7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uma operação escalável.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41605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5CE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1: solução para a Vantara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5CE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2: núcleo reutilizável para a Barte e outros clientes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35240" y="914400"/>
            <a:ext cx="3886200" cy="4480560"/>
          </a:xfrm>
          <a:prstGeom prst="roundRect">
            <a:avLst>
              <a:gd name="adj" fmla="val 3765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1325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AB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001000" y="17373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55864" y="177393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Protheus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692640" y="17373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47504" y="177393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001000" y="23042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55864" y="2340864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9692640" y="23042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47504" y="2340864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 AP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9235440" y="3035808"/>
            <a:ext cx="566928" cy="274320"/>
          </a:xfrm>
          <a:prstGeom prst="chevron">
            <a:avLst/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01000" y="3474720"/>
            <a:ext cx="3154680" cy="1188720"/>
          </a:xfrm>
          <a:prstGeom prst="roundRect">
            <a:avLst>
              <a:gd name="adj" fmla="val 11538"/>
            </a:avLst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371246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EVIDÊNCIA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" y="5989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AI Services  ·  Outubro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ABERTURA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TESE EXECUTIVA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recomendação não é comprar uma IA de conciliação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criar uma camada de identidade e decisão auditável sobre a operação financeira existente.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ABERTURA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E8E8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91640"/>
            <a:ext cx="64008" cy="1965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real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23500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Protheus, Omie, banco e planilhas não compartilham uma identidade financeira confiável. O matching vira sintoma de uma operação descentralizada.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EEAF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691640"/>
            <a:ext cx="64008" cy="1965960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3500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 entidades, preservar evidências, propor vínculos e encaminhar exceções para a pessoa certa.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2843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DDF8F1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691640"/>
            <a:ext cx="64008" cy="1965960"/>
          </a:xfrm>
          <a:prstGeom prst="rect">
            <a:avLst/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1892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7032" y="23500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um core reutilizável: conectores, regras, IA limitada, controles e uma camada de operação que conversa com a stack existente.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58368" y="4160520"/>
            <a:ext cx="10881360" cy="1115568"/>
          </a:xfrm>
          <a:prstGeom prst="roundRect">
            <a:avLst>
              <a:gd name="adj" fmla="val 9836"/>
            </a:avLst>
          </a:prstGeom>
          <a:solidFill>
            <a:srgbClr val="111522"/>
          </a:solidFill>
          <a:ln w="12700">
            <a:solidFill>
              <a:srgbClr val="1115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07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ouro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4343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 evidência não sustenta a decisão, o sistema se abstém — e explica por quê.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solução para a Vantara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5CE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problema de negócio ao piloto operacional: recebíveis primeiro, zero escrita no ERP e humano no controle.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014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NEGÓCIO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3977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75104" y="401421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FUNCIONAMENTO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39776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4014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01000" y="1097280"/>
            <a:ext cx="2926080" cy="2971800"/>
          </a:xfrm>
          <a:prstGeom prst="roundRect">
            <a:avLst>
              <a:gd name="adj" fmla="val 4688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muda?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21488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arquivos dispersos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uma fila auditável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caixa explicado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linha a linha.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 NEGÓCIO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gargalo é a assimetria de 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operação reage depois que o dinheiro entrou — e antes de saber de quem é o dinheiro.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2487168" cy="2423160"/>
          </a:xfrm>
          <a:prstGeom prst="roundRect">
            <a:avLst>
              <a:gd name="adj" fmla="val 4528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descentralizada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Protheus, Omie, bancos e planilhas mantêm versões diferentes da mesma realidade.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880360"/>
            <a:ext cx="256032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828800"/>
            <a:ext cx="2487168" cy="2423160"/>
          </a:xfrm>
          <a:prstGeom prst="roundRect">
            <a:avLst>
              <a:gd name="adj" fmla="val 4528"/>
            </a:avLst>
          </a:prstGeom>
          <a:solidFill>
            <a:srgbClr val="E7F0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8456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 sem identidade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324612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Depósitos, PIX e TED chegam com nomes truncados, valores diferentes ou sem documento.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2880360"/>
            <a:ext cx="256032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828800"/>
            <a:ext cx="2487168" cy="2423160"/>
          </a:xfrm>
          <a:prstGeom prst="roundRect">
            <a:avLst>
              <a:gd name="adj" fmla="val 4528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7376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Conciliação manual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24612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analista abre sistema por sistema e trabalha por exceção, sem uma trilha comum.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78240" y="2880360"/>
            <a:ext cx="256032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25128" y="1828800"/>
            <a:ext cx="2487168" cy="2423160"/>
          </a:xfrm>
          <a:prstGeom prst="roundRect">
            <a:avLst>
              <a:gd name="adj" fmla="val 4528"/>
            </a:avLst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6296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Atrito e risco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1160" y="324612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Cobrança indevida, pagamento duplicado e fechamento tardio afetam caixa e relacionamento.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50749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Premissas do case: piloto em 30 dias · acesso de leitura · sem escrita no ERP nos primeiros 90 dias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USO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 solução captura valor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caso combina uma pista de identidade, uma regra de segurança e uma decisão humana quando necessário.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7F0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27632"/>
            <a:ext cx="64008" cy="18288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Recebível sem identificação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R$ 5.670,00 no depósito sem identificação associado ao título Omie de Trigo e Cia por valor e contexto.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456432" y="1627632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3D6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627632"/>
            <a:ext cx="64008" cy="182880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 parcial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85032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R$ 62.500,00 contra título de R$ 125.000,00. O caixa entra, mas o saldo remanescente permanece aberto.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254496" y="1627632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EAF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627632"/>
            <a:ext cx="64008" cy="1828800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Desconto ou juros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83096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R$ 14.820,00 contra R$ 15.600,00 e R$ 23.358,00 contra R$ 22.900,00: hipótese, não baixa cega.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052560" y="1627632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FFE8E8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627632"/>
            <a:ext cx="64008" cy="1828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1828800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Pagar com evidência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81160" y="2286000"/>
            <a:ext cx="207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Boleto reemitido de R$ 19.278,00, entrega parcial e aprovação por WhatsApp entram na esteira de AP.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58368" y="406908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111522"/>
          </a:solidFill>
          <a:ln w="12700">
            <a:solidFill>
              <a:srgbClr val="1115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1596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do data pack de julho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690872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14/15 créditos vinculados  ·  99,4% de cobertura por valor  ·  8 propostas de alta confiança  ·  R$ 50.528 de exposição potencial  ·  R$ 0 de perda confirmada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86200" y="52578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AB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da amostra sintética; não representam produção.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jornada do usuário começa no arquivo e termina na decisão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separa preparar dados de validar e fechar caixa para reduzir carga cognitiva.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874520"/>
            <a:ext cx="224028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39696"/>
            <a:ext cx="621792" cy="6217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2295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dados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" y="33101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dos quatro arquivos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 data pack de exemplo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54096" y="2697480"/>
            <a:ext cx="32004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9584" y="1874520"/>
            <a:ext cx="224028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4256" y="2139696"/>
            <a:ext cx="621792" cy="62179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2295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30752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85616" y="33101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Ingestão, normalização,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e matching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70448" y="2697480"/>
            <a:ext cx="32004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874520"/>
            <a:ext cx="224028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2139696"/>
            <a:ext cx="621792" cy="621792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2295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47104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01968" y="33101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 com evidência,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confiança e ação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0" y="2697480"/>
            <a:ext cx="32004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62288" y="1874520"/>
            <a:ext cx="224028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2139696"/>
            <a:ext cx="621792" cy="621792"/>
          </a:xfrm>
          <a:prstGeom prst="ellipse">
            <a:avLst/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295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63456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Fechar caixa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18320" y="331012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Validado, análise,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 e total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25880" y="4434840"/>
            <a:ext cx="9555480" cy="777240"/>
          </a:xfrm>
          <a:prstGeom prst="roundRect">
            <a:avLst>
              <a:gd name="adj" fmla="val 14118"/>
            </a:avLst>
          </a:prstGeom>
          <a:solidFill>
            <a:srgbClr val="DDF8F1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4645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da analista é o evento que conecta a fila ao caixa: OK entra em validado; erro fica rastreado; pendente permanece em análise.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VISIBILIDADE OPERACIONAL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fechamento deixa de ser uma opinião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visão de caixa não soma alertas novamente: ela acompanha movimentos bancários e decisões sobre cada linha.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459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R$ 152.880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caixa validado automaticamente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28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B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R$ 162.928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6616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análise humana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8192" y="16459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828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291072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perda confirmada no data pack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33104" y="164592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R$ 315.808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015984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de créditos no extrato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5212080" cy="1901952"/>
          </a:xfrm>
          <a:prstGeom prst="roundRect">
            <a:avLst>
              <a:gd name="adj" fmla="val 4808"/>
            </a:avLst>
          </a:prstGeom>
          <a:solidFill>
            <a:srgbClr val="EEEAF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246120"/>
            <a:ext cx="64008" cy="1901952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4472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Caixa / DRE linha a linha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3904488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movimento mostra data, histórico, tipo, valor, status do caixa, vínculo, alerta/problema e próxima ação. O analista consegue explicar o que está errado sem alternar entre telas.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053328" y="3246120"/>
            <a:ext cx="5486400" cy="1901952"/>
          </a:xfrm>
          <a:prstGeom prst="roundRect">
            <a:avLst>
              <a:gd name="adj" fmla="val 4808"/>
            </a:avLst>
          </a:prstGeom>
          <a:solidFill>
            <a:srgbClr val="FFE8E8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3246120"/>
            <a:ext cx="64008" cy="19019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34472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Separação importante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81928" y="3904488"/>
            <a:ext cx="5074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alerta pode apontar exposição sobre um movimento já recebido. Ele não é uma segunda entrada. O sistema separa caixa real, risco cadastral e decisão de baixa.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880360" y="557784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valores acima são da amostra sintética de julho e servem para demonstrar o modelo de operação.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FUNCIONAMENTO TÉCNICO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pipeline transforma arquivos em decisões explicáveis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ordem importa: ingestão, identidade, valor, controle e ação.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" y="182880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99339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2395728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Protheus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 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2633472"/>
            <a:ext cx="27432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43784" y="182880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E7F0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199339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08376" y="2395728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CNPJ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82312" y="2633472"/>
            <a:ext cx="27432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5504" y="182880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DDF8F1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0096" y="199339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0096" y="2395728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nosso número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CNPJ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14032" y="2633472"/>
            <a:ext cx="27432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07224" y="182880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71816" y="199339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71816" y="2395728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aplicar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445752" y="2633472"/>
            <a:ext cx="27432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38944" y="182880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03536" y="199339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03536" y="2395728"/>
            <a:ext cx="1545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caixa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97280" y="4434840"/>
            <a:ext cx="9966960" cy="731520"/>
          </a:xfrm>
          <a:prstGeom prst="roundRect">
            <a:avLst>
              <a:gd name="adj" fmla="val 15000"/>
            </a:avLst>
          </a:prstGeom>
          <a:solidFill>
            <a:srgbClr val="111522"/>
          </a:solidFill>
          <a:ln w="12700">
            <a:solidFill>
              <a:srgbClr val="1115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6451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IA só recebe candidatos previamente filtrados; nunca recebe o universo inteiro e nunca aplica uma baixa sozinha.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TÉCNICA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do piloto Vantara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desenho preserva o ERP como sistema de registro e cria uma camada segura de leitura, decisão e saída.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E7F0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DE LEITURA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221284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23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Protheus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862072"/>
            <a:ext cx="221284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953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Omie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392424"/>
            <a:ext cx="221284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4838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Extrato Itaú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922776"/>
            <a:ext cx="221284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 Inbox AP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47872" y="3154680"/>
            <a:ext cx="50292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7952" y="1572768"/>
            <a:ext cx="3822192" cy="3611880"/>
          </a:xfrm>
          <a:prstGeom prst="roundRect">
            <a:avLst>
              <a:gd name="adj" fmla="val 3038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8470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 CONCILIAÇÃO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359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Modelo canônico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27889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Identidade e deduplicação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32186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Cascata de matching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6484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Classificação de valor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407822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Regras de risco e auditoria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65592" y="3154680"/>
            <a:ext cx="50292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572768"/>
            <a:ext cx="2724912" cy="3611880"/>
          </a:xfrm>
          <a:prstGeom prst="roundRect">
            <a:avLst>
              <a:gd name="adj" fmla="val 4027"/>
            </a:avLst>
          </a:prstGeom>
          <a:solidFill>
            <a:srgbClr val="DDF8F1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0848" y="1847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SAÍDAS CONTROLADAS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9828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Fila humana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9828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Baixas propostas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98280" y="3218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Alertas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98280" y="36484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Relatório HTML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98280" y="40782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Metricas JSON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54680" y="55321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Nenhuma escrita automática no ERP no piloto.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INTELIGÊNCIA ARTIFICIAL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como camada de desempate — não como autoridade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maior parte do valor vem de regras auditáveis; o modelo entra onde o texto exige interpretação.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7F0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91640"/>
            <a:ext cx="64008" cy="1965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Determinístico primeiro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235000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Nosso número, CNPJ, valor, data, normalização e invariantes são executados sem chamada externa.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EEAF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691640"/>
            <a:ext cx="64008" cy="1965960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em espaço restrito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9432" y="235000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Recebe uma lista fechada de candidatos ou texto de AP para extrair fatos que não possuem coluna estruturada.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DDF8F1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691640"/>
            <a:ext cx="64008" cy="1965960"/>
          </a:xfrm>
          <a:prstGeom prst="rect">
            <a:avLst/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89280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Abstenção é sucesso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11896" y="2350008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inválida, baixa confiança ou falha de API viram diagnóstico e fila humana. Nada é baixado automaticamente pela IA.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58368" y="416052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111522"/>
          </a:solidFill>
          <a:ln w="12700">
            <a:solidFill>
              <a:srgbClr val="1115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07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Guard-rails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4370832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candidatos limitados  ·  IDs fora da lista descartados  ·  schema JSON  ·  cache auditável  ·  fallback determinístico  ·  humano aplica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E IMPLANTAÇÃO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Vantara mantém a casa; a Barte entrega o motor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de piloto: execução dentro do ambiente aprovado pela Vantara, com leitura e saídas controladas.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E7F0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/ Banco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22576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exportações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286000"/>
            <a:ext cx="32004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755648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2024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Bucket Vantara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39312" y="2322576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arquivos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96712" y="2286000"/>
            <a:ext cx="32004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755648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DDF8F1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92024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isolado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5664" y="2322576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13064" y="2286000"/>
            <a:ext cx="32004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1755648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2016" y="192024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2016" y="2322576"/>
            <a:ext cx="1819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35844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43584" y="36210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0" y="358444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98064" y="362102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ISOLAMENTO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07408" y="3584448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3621024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KMS / LOGS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25312" y="35844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176" y="362102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ESCRITA ERP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" y="4343400"/>
            <a:ext cx="3401568" cy="1051560"/>
          </a:xfrm>
          <a:prstGeom prst="roundRect">
            <a:avLst>
              <a:gd name="adj" fmla="val 8696"/>
            </a:avLst>
          </a:prstGeom>
          <a:solidFill>
            <a:srgbClr val="E7F0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343400"/>
            <a:ext cx="64008" cy="10515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4544568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6968" y="5001768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 e golden set assinados pela Controller.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389120" y="4343400"/>
            <a:ext cx="3401568" cy="1051560"/>
          </a:xfrm>
          <a:prstGeom prst="roundRect">
            <a:avLst>
              <a:gd name="adj" fmla="val 8696"/>
            </a:avLst>
          </a:prstGeom>
          <a:solidFill>
            <a:srgbClr val="EEEAF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4343400"/>
            <a:ext cx="64008" cy="1051560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4544568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Semanas 2–3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17720" y="5001768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mode, fila diária e medição por tier.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119872" y="4343400"/>
            <a:ext cx="3419856" cy="1051560"/>
          </a:xfrm>
          <a:prstGeom prst="roundRect">
            <a:avLst>
              <a:gd name="adj" fmla="val 8696"/>
            </a:avLst>
          </a:prstGeom>
          <a:solidFill>
            <a:srgbClr val="DDF8F1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9872" y="4343400"/>
            <a:ext cx="64008" cy="1051560"/>
          </a:xfrm>
          <a:prstGeom prst="rect">
            <a:avLst/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454456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48472" y="5001768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aceitar, recalibrar ou interromper.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 Barte pode reutilizar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5CE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Vantara é o caso de prova. O ativo estratégico é um padrão de operação que pode ser configurado para outras empresas.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014216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BARTE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48840" y="3977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3704" y="401421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3977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401421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MULTI-CLIENTE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92440" y="1143000"/>
            <a:ext cx="2743200" cy="2788920"/>
          </a:xfrm>
          <a:prstGeom prst="roundRect">
            <a:avLst>
              <a:gd name="adj" fmla="val 5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5727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produto não é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parser de Protheus.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1248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 o contrato auditável entre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suja, evidência,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e ação humana.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Parametrizar o cliente, não duplicar o produto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fronteira entre core e configuração é o que permite escalar sem perder governança.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00200"/>
            <a:ext cx="5285232" cy="3913632"/>
          </a:xfrm>
          <a:prstGeom prst="roundRect">
            <a:avLst>
              <a:gd name="adj" fmla="val 2804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562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892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REUTILIZÁVEL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7552" y="242316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modelo canônico de títulos e movimentos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2752344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adapters e contrato de ingestão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87552" y="3081528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normalização de identidade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341071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cascata de matching e confiança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3739896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classificação de divergências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406908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fila humana e estados operacionais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4398264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invariantes, métricas e auditoria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4727448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contrato de IA e fallback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1600200"/>
            <a:ext cx="5303520" cy="3913632"/>
          </a:xfrm>
          <a:prstGeom prst="roundRect">
            <a:avLst>
              <a:gd name="adj" fmla="val 2804"/>
            </a:avLst>
          </a:prstGeom>
          <a:solidFill>
            <a:srgbClr val="E7F0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185623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18928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 POR CLIENTE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65392" y="242316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layouts e nomes de colunas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65392" y="2752344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contas, unidades e fontes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65392" y="3081528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políticas de tolerância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65392" y="341071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mapeamentos e destinatários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65392" y="3739896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golden set do cliente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406908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retenção e política de dados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4398264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limites de confiança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65392" y="4727448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ambiente e requisitos de segurança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BARTE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 core, vários ambientes isolados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proposta para múltiplos clientes: o código é comum; os dados, segredos e parâmetros não se misturam.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2926080" cy="3822192"/>
          </a:xfrm>
          <a:prstGeom prst="roundRect">
            <a:avLst>
              <a:gd name="adj" fmla="val 3750"/>
            </a:avLst>
          </a:prstGeom>
          <a:solidFill>
            <a:srgbClr val="111522"/>
          </a:solidFill>
          <a:ln w="12700">
            <a:solidFill>
              <a:srgbClr val="1115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5623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CONTROL PLANE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2688" y="242316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5146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Imagem assinada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32688" y="2990088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081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Versionamento do 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32688" y="3557016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64845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de configurações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32688" y="4123944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2153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Observabilidade sem dados financeiros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3904" y="3154680"/>
            <a:ext cx="457200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1600200"/>
            <a:ext cx="2880360" cy="960120"/>
          </a:xfrm>
          <a:prstGeom prst="roundRect">
            <a:avLst>
              <a:gd name="adj" fmla="val 9524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830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42432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+ config 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167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isolado  ·  read-only  ·  logs do tenant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89520" y="1920240"/>
            <a:ext cx="384048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2926080"/>
            <a:ext cx="2880360" cy="960120"/>
          </a:xfrm>
          <a:prstGeom prst="roundRect">
            <a:avLst>
              <a:gd name="adj" fmla="val 9524"/>
            </a:avLst>
          </a:prstGeom>
          <a:solidFill>
            <a:srgbClr val="DDF8F1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089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Vantara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42432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+ config 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493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isolado  ·  read-only  ·  logs do tenant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89520" y="3246120"/>
            <a:ext cx="384048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251960"/>
            <a:ext cx="2880360" cy="960120"/>
          </a:xfrm>
          <a:prstGeom prst="roundRect">
            <a:avLst>
              <a:gd name="adj" fmla="val 9524"/>
            </a:avLst>
          </a:prstGeom>
          <a:solidFill>
            <a:srgbClr val="E7F0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4348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42432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+ config 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8188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isolado  ·  read-only  ·  logs do tenant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89520" y="4572000"/>
            <a:ext cx="384048" cy="274320"/>
          </a:xfrm>
          <a:prstGeom prst="chevron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1572768"/>
            <a:ext cx="3310128" cy="3822192"/>
          </a:xfrm>
          <a:prstGeom prst="roundRect">
            <a:avLst>
              <a:gd name="adj" fmla="val 3315"/>
            </a:avLst>
          </a:prstGeom>
          <a:solidFill>
            <a:srgbClr val="DDF8F1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185623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DE SAÍDA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24505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fila de revisão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49640" y="29535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alertas rastreáveis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3456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métricas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49640" y="39593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relatório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49640" y="44622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propostas sem escrita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ENTREGA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novo cliente começa por configuração e evidência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Barte pode repetir o método sem prometer automação antes de conhecer a operação.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07592" y="1783080"/>
            <a:ext cx="566928" cy="566928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938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2670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Mapear fontes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ERPs, bancos, caixas de entrada e layouts existem?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47672" y="2066544"/>
            <a:ext cx="859536" cy="0"/>
          </a:xfrm>
          <a:prstGeom prst="line">
            <a:avLst/>
          </a:prstGeom>
          <a:noFill/>
          <a:ln w="31750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1783080"/>
            <a:ext cx="566928" cy="56692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938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35224" y="2670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contrato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0088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 campos, identidade, estados e responsáveis.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79392" y="2066544"/>
            <a:ext cx="859536" cy="0"/>
          </a:xfrm>
          <a:prstGeom prst="line">
            <a:avLst/>
          </a:prstGeom>
          <a:noFill/>
          <a:ln w="31750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71032" y="1783080"/>
            <a:ext cx="566928" cy="56692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1938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66944" y="2670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Montar golden set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21808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reais assinados pelo cliente e critérios de aceite.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11112" y="2066544"/>
            <a:ext cx="859536" cy="0"/>
          </a:xfrm>
          <a:prstGeom prst="line">
            <a:avLst/>
          </a:prstGeom>
          <a:noFill/>
          <a:ln w="31750">
            <a:solidFill>
              <a:srgbClr val="DD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1783080"/>
            <a:ext cx="566928" cy="566928"/>
          </a:xfrm>
          <a:prstGeom prst="ellipse">
            <a:avLst/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1938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98664" y="2670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Rodar shadow mode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53528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escrita; medir precisão, exceções e tempo de revisão.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42832" y="2066544"/>
            <a:ext cx="859536" cy="0"/>
          </a:xfrm>
          <a:prstGeom prst="line">
            <a:avLst/>
          </a:prstGeom>
          <a:noFill/>
          <a:ln w="31750">
            <a:solidFill>
              <a:srgbClr val="DD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34472" y="1783080"/>
            <a:ext cx="566928" cy="5669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34472" y="19385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30384" y="2670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Expandir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85248" y="3127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 depois parametrizar AP, cobrança ou novas contas.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34440" y="4663440"/>
            <a:ext cx="9738360" cy="758952"/>
          </a:xfrm>
          <a:prstGeom prst="roundRect">
            <a:avLst>
              <a:gd name="adj" fmla="val 14458"/>
            </a:avLst>
          </a:prstGeom>
          <a:solidFill>
            <a:srgbClr val="111522"/>
          </a:solidFill>
          <a:ln w="12700">
            <a:solidFill>
              <a:srgbClr val="1115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4882896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unidade de escala não é o número de telas. É a capacidade de transformar exceções de um cliente em configuração e regra reutilizável.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POTENCIAL DE NEGÓCIO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ativo para a Barte é a camada de operação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 conversa com a stack existente e transforma decisões financeiras em contexto reutilizável.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4592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EEEAF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45920"/>
            <a:ext cx="64008" cy="1965960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4708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Expansão de escopo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2304288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Começar em recebíveis e, com evidência, avançar para AP, cobrança, tesouraria e outras contas.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70832" y="164592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DDF8F1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645920"/>
            <a:ext cx="64008" cy="1965960"/>
          </a:xfrm>
          <a:prstGeom prst="rect">
            <a:avLst/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84708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9432" y="2304288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vender uma tela isolada. Entregar especialistas, agentes e relatórios amarrados à evidência de origem.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83296" y="164592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E7F0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645920"/>
            <a:ext cx="64008" cy="19659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847088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Aprendizado composto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11896" y="2304288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exceção validada pode virar regra, configuração ou teste do core — desde que seja generalizável.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58368" y="4133088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074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4B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inventar resultado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4361688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potencial comercial é uma hipótese de expansão. Deve ser validado por precisão, tempo de revisão, adesão do time e segurança de cada cliente.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RIGOR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ainda precisa ser validado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proposta é forte quando explicita seus limites — e transforma cada limite em critério de piloto.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PARTE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285232" cy="3429000"/>
          </a:xfrm>
          <a:prstGeom prst="roundRect">
            <a:avLst>
              <a:gd name="adj" fmla="val 3200"/>
            </a:avLst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90195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3852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ATUAL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41832" y="248716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Os dados usados no deck são sintéticos.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299008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Uma conta bancária não representa as quatro contas.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349300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CNPJ + valor + vencimento é indício, não prova.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39959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Anexos fiscais e boletos não foram fornecidos.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1627632"/>
            <a:ext cx="5303520" cy="3429000"/>
          </a:xfrm>
          <a:prstGeom prst="roundRect">
            <a:avLst>
              <a:gd name="adj" fmla="val 3200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190195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93852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GATES DO PILOTO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19672" y="248716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 runtime multi-cliente precisa de aprovação de segurança.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9672" y="299008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 integração de importação do Protheus precisa ser homologada.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9672" y="349300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 precisão deve ser medida por cliente e por tier.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9672" y="39959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 economia operacional ainda não foi quantificada.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5349240"/>
            <a:ext cx="8275320" cy="502920"/>
          </a:xfrm>
          <a:prstGeom prst="roundRect">
            <a:avLst>
              <a:gd name="adj" fmla="val 21818"/>
            </a:avLst>
          </a:prstGeom>
          <a:solidFill>
            <a:srgbClr val="111522"/>
          </a:solidFill>
          <a:ln w="12700">
            <a:solidFill>
              <a:srgbClr val="1115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5504688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piloto compra evidência operacional — não uma promessa de automação.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decisão segura antes de uma automação grande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5CE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 começa pequena, deixa cada valor rastreável e cria uma base que a Barte pode levar para outros clientes.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FECHAMENTO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37960" y="1234440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435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516368" y="1399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Arquivos read-only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16368" y="17373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fontes entram no piloto e com qual frequência?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37960" y="2441448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6426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6D4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516368" y="2606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aprovado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16368" y="29443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o runtime pode processar sem escrever no ERP?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37960" y="3648456"/>
            <a:ext cx="4709160" cy="914400"/>
          </a:xfrm>
          <a:prstGeom prst="roundRect">
            <a:avLst>
              <a:gd name="adj" fmla="val 10000"/>
            </a:avLst>
          </a:prstGeom>
          <a:solidFill>
            <a:srgbClr val="1C2435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849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0C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516368" y="3813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16368" y="4151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5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assina os casos e as políticas de exceção?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5285232"/>
            <a:ext cx="5212080" cy="530352"/>
          </a:xfrm>
          <a:prstGeom prst="roundRect">
            <a:avLst>
              <a:gd name="adj" fmla="val 17241"/>
            </a:avLst>
          </a:prstGeom>
          <a:solidFill>
            <a:srgbClr val="20C7A8"/>
          </a:solidFill>
          <a:ln w="12700">
            <a:solidFill>
              <a:srgbClr val="20C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44982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5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antes do matching. Evidência antes da ação.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60807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 de posicionamento e identidade visual: barte.com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BARTE  /  VANTARA CONCILIA  /  FECHAMENTO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Barte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Vantara Concilia — da identidade financeira à escala</dc:title>
  <dc:subject>Vantara Concilia — solução de negócio, técnica e arquitetura</dc:subject>
  <dc:creator>Barte AI Services</dc:creator>
  <cp:lastModifiedBy>Barte AI Services</cp:lastModifiedBy>
  <cp:revision>1</cp:revision>
  <dcterms:created xsi:type="dcterms:W3CDTF">2026-10-12T17:51:41Z</dcterms:created>
  <dcterms:modified xsi:type="dcterms:W3CDTF">2026-10-12T17:51:41Z</dcterms:modified>
</cp:coreProperties>
</file>