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7a18f26-4601-da09-d5db-70ae3c93dfca}">
          <p14:sldIdLst>
            <p14:sldId id="256"/>
            <p14:sldId id="257"/>
          </p14:sldIdLst>
        </p14:section>
        <p14:section name="Diagnostico" id="{b4ce722f-2f2f-9656-b772-6b056109eb2c}">
          <p14:sldIdLst>
            <p14:sldId id="258"/>
            <p14:sldId id="259"/>
            <p14:sldId id="260"/>
          </p14:sldIdLst>
        </p14:section>
        <p14:section name="Arquitetura" id="{0df3e93e-77d3-54f1-25af-6d2cb83ace8b}">
          <p14:sldIdLst>
            <p14:sldId id="261"/>
            <p14:sldId id="262"/>
            <p14:sldId id="263"/>
            <p14:sldId id="264"/>
          </p14:sldIdLst>
        </p14:section>
        <p14:section name="Contas a Pagar" id="{ad6de04c-2ea7-6785-7b18-0832476f3664}">
          <p14:sldIdLst>
            <p14:sldId id="265"/>
            <p14:sldId id="266"/>
            <p14:sldId id="267"/>
          </p14:sldIdLst>
        </p14:section>
        <p14:section name="Escala" id="{7e4722cc-d1f8-d283-d833-5fa579edecec}">
          <p14:sldIdLst>
            <p14:sldId id="268"/>
            <p14:sldId id="269"/>
            <p14:sldId id="270"/>
          </p14:sldIdLst>
        </p14:section>
        <p14:section name="Resultado" id="{0d233273-9495-d022-f2fc-6e80e0af26c7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6309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BARTE AI SERVICES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Confidencial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BARTE AI SERVICES  |  Vantara Concilia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400" b="1" dirty="0">
                <a:solidFill>
                  <a:srgbClr val="FFFFFF"/>
                </a:solidFill>
              </a:rPr>
              <a:t>VANTARA</a:t>
            </a:r>
            <a:endParaRPr lang="en-US" sz="5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400" b="1" dirty="0">
                <a:solidFill>
                  <a:srgbClr val="FFFFFF"/>
                </a:solidFill>
              </a:rPr>
              <a:t>CONCILIA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Motor de identidade para conciliação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de recebíveis e controle de contas a pagar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</a:rPr>
              <a:t>Case Vantara  |  Barte AI Services  |  Outubro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6C3FC5"/>
                </a:solidFill>
              </a:rPr>
              <a:t>99,4%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valor dos créditos vinculado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6C3FC5"/>
                </a:solidFill>
              </a:rPr>
              <a:t>R$ 50,5k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exposição potencial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572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6C3FC5"/>
                </a:solidFill>
              </a:rPr>
              <a:t>46/46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testes automatizados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</a:rPr>
              <a:t>Resumo executivo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3FC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O diagnóstico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916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A fragmentação entre ERPs e bancos impede uma visão confiável de quem pagou o quê e cria risco de cobrança ou pagamento indevido.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3FC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A solução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Recebíveis primeiro: identidade antes do matching, propostas auditáveis e zero escrita no Protheus. IA é opcional e apenas residual.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3FC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O resultado do data pack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0690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14/15 créditos vinculados (99,4% do valor), 8 propostas de alta confiança e R$ 50.528 de exposição potencial. Sem alegar perda confirmada.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937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3FC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O piloto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5257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Executar no ambiente Vantara, medir precisão por faixa de confiança e só então decidir automação, expansão a AP e uso de 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C3FC5"/>
                </a:solidFill>
              </a:rPr>
              <a:t>01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Diagnóstico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AA"/>
                </a:solidFill>
              </a:rPr>
              <a:t>Por que o problema não é matching — é identidade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A mesma empresa, dois sistemas, duas identidades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0" cy="2560320"/>
          </a:xfrm>
          <a:prstGeom prst="roundRect">
            <a:avLst>
              <a:gd name="adj" fmla="val 5357"/>
            </a:avLst>
          </a:prstGeom>
          <a:solidFill>
            <a:srgbClr val="F0F0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FC5"/>
                </a:solidFill>
              </a:rPr>
              <a:t>PROTHEUS (Sede)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01168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Grão Nobre Comércio Ltda
</a:t>
            </a:r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CNPJ: 55.666.777/0001-44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NF 104580 — R$ 31.250,00
</a:t>
            </a:r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Tipo: Produto | Venc: 20/07/2026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</a:rPr>
              <a:t>=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029200" cy="2560320"/>
          </a:xfrm>
          <a:prstGeom prst="roundRect">
            <a:avLst>
              <a:gd name="adj" fmla="val 5357"/>
            </a:avLst>
          </a:prstGeom>
          <a:solidFill>
            <a:srgbClr val="F0F0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FC5"/>
                </a:solidFill>
              </a:rPr>
              <a:t>OMIE (Unidade Norte)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01168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GRAO NOBRE COM LTDA
</a:t>
            </a:r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CNPJ: 55666777000144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FAT-2026-0331 — R$ 31.250,00
</a:t>
            </a:r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Tipo: Produto | Venc: 20/07/2026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297680"/>
            <a:ext cx="10698480" cy="1828800"/>
          </a:xfrm>
          <a:prstGeom prst="roundRect">
            <a:avLst>
              <a:gd name="adj" fmla="val 7500"/>
            </a:avLst>
          </a:prstGeom>
          <a:solidFill>
            <a:srgbClr val="FFF3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4805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Hipótese que exige validação:
</a:t>
            </a:r>
            <a:pPr indent="0" marL="0">
              <a:buNone/>
            </a:pPr>
            <a:r>
              <a:rPr lang="en-US" sz="1200" dirty="0">
                <a:solidFill>
                  <a:srgbClr val="7A6500"/>
                </a:solidFill>
              </a:rPr>
              <a:t>CNPJ, valor e vencimento coincidem em dois ERPs. É forte indício de duplicidade, não prova da mesma obrigação.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6500"/>
                </a:solidFill>
              </a:rPr>
              <a:t>Ação segura: suspender a cobrança por até 48h e conferir os documentos de origem.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O tamanho do 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0F0F5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6B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R$ 101.870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Aberto ao final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Após aplicar os vínculos propostos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3716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0F0F5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B8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R$ 31.250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4D"/>
                </a:solidFill>
              </a:rPr>
              <a:t>Sob validação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Possível duplicidade cross-ERP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0F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C3FC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R$ 62.500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FC5"/>
                </a:solidFill>
              </a:rPr>
              <a:t>Pagamento parcial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Saldo remanescente cobrável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3716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0F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950976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0D4A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R$ 8.120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Sem match no extrato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Validar outros bancos antes de cobrar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114800"/>
            <a:ext cx="10698480" cy="1645920"/>
          </a:xfrm>
          <a:prstGeom prst="roundRect">
            <a:avLst>
              <a:gd name="adj" fmla="val 8333"/>
            </a:avLst>
          </a:prstGeom>
          <a:solidFill>
            <a:srgbClr val="1A1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97280" y="4297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métrica que muda a decisão: </a:t>
            </a:r>
            <a:pPr indent="0" marL="0">
              <a:buNone/>
            </a:pPr>
            <a:r>
              <a:rPr lang="en-US" sz="1300" dirty="0">
                <a:solidFill>
                  <a:srgbClr val="E0E0E8"/>
                </a:solidFill>
              </a:rPr>
              <a:t>não apenas quanto está em aberto, mas por que está em aberto.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0E0E8"/>
                </a:solidFill>
              </a:rPr>
              <a:t>O data pack contém uma de quatro contas bancárias; ausência de match não prova inadimplência.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C3FC5"/>
                </a:solidFill>
              </a:rPr>
              <a:t>02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Arquitetura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AA"/>
                </a:solidFill>
              </a:rPr>
              <a:t>Identidade primeiro, matching depois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Pipeline em 7 etapas sequenciais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3FC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Ingestão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4 adapters, tudo vira schema canônico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78408" y="1783080"/>
            <a:ext cx="0" cy="182880"/>
          </a:xfrm>
          <a:prstGeom prst="line">
            <a:avLst/>
          </a:prstGeom>
          <a:noFill/>
          <a:ln w="25400">
            <a:solidFill>
              <a:srgbClr val="E0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C3FC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Identidade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240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Entidades unificadas entre ERPs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78408" y="2468880"/>
            <a:ext cx="0" cy="182880"/>
          </a:xfrm>
          <a:prstGeom prst="line">
            <a:avLst/>
          </a:prstGeom>
          <a:noFill/>
          <a:ln w="25400">
            <a:solidFill>
              <a:srgbClr val="E0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651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B8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Colisões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Possíveis duplicidades cross-ERP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8408" y="3154680"/>
            <a:ext cx="0" cy="182880"/>
          </a:xfrm>
          <a:prstGeom prst="line">
            <a:avLst/>
          </a:prstGeom>
          <a:noFill/>
          <a:ln w="25400">
            <a:solidFill>
              <a:srgbClr val="E0E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337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A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Conciliação AR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Cascata de 5 passes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8408" y="3840480"/>
            <a:ext cx="0" cy="182880"/>
          </a:xfrm>
          <a:prstGeom prst="line">
            <a:avLst/>
          </a:prstGeom>
          <a:noFill/>
          <a:ln w="25400">
            <a:solidFill>
              <a:srgbClr val="E0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B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Contas a Pagar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Detecção de duplicidade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78408" y="4526280"/>
            <a:ext cx="0" cy="182880"/>
          </a:xfrm>
          <a:prstGeom prst="line">
            <a:avLst/>
          </a:prstGeom>
          <a:noFill/>
          <a:ln w="25400">
            <a:solidFill>
              <a:srgbClr val="E0E0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709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A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Conferência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4983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2 invariantes ao centavo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8408" y="5212080"/>
            <a:ext cx="0" cy="182880"/>
          </a:xfrm>
          <a:prstGeom prst="line">
            <a:avLst/>
          </a:prstGeom>
          <a:noFill/>
          <a:ln w="25400">
            <a:solidFill>
              <a:srgbClr val="E0E0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5394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888A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52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463040" y="5394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Saídas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463040" y="5669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CSVs + relatório HTML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128016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76656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Por que essa ordem?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766560" y="2103120"/>
            <a:ext cx="4389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Identidade antes do matching
</a:t>
            </a:r>
            <a:pPr indent="0" marL="0">
              <a:buNone/>
            </a:pPr>
            <a:r>
              <a:rPr lang="en-US" sz="1200" dirty="0">
                <a:solidFill>
                  <a:srgbClr val="E0E0E8"/>
                </a:solidFill>
              </a:rPr>
              <a:t>Para que um título duplicado não seja silenciosamente "resolvido" e o gêmeo vá para inadimplência.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Colisões antes da conciliação
</a:t>
            </a:r>
            <a:pPr indent="0" marL="0">
              <a:buNone/>
            </a:pPr>
            <a:r>
              <a:rPr lang="en-US" sz="1200" dirty="0">
                <a:solidFill>
                  <a:srgbClr val="E0E0E8"/>
                </a:solidFill>
              </a:rPr>
              <a:t>Possíveis duplicidades saem temporariamente da cobrança e vão para validação documental. O motor não baixa o título por inferência.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Conferência ao final
</a:t>
            </a:r>
            <a:pPr indent="0" marL="0">
              <a:buNone/>
            </a:pPr>
            <a:r>
              <a:rPr lang="en-US" sz="1200" dirty="0">
                <a:solidFill>
                  <a:srgbClr val="E0E0E8"/>
                </a:solidFill>
              </a:rPr>
              <a:t>Se as invariantes não fecham, o pipeline aborta. Elas provam conservação aritmética; precisão dos vínculos é medida por auditoria.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Cascata de confiança — 5 passes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A"/>
                </a:solidFill>
              </a:rPr>
              <a:t>Do mais confiável ao mais fraco. O primeiro que casa, para.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0F0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8147304" cy="457200"/>
          </a:xfrm>
          <a:prstGeom prst="roundRect">
            <a:avLst>
              <a:gd name="adj" fmla="val 10000"/>
            </a:avLst>
          </a:prstGeom>
          <a:solidFill>
            <a:srgbClr val="00D4AA">
              <a:alpha val="2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1. Nosso Número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0.99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332720" y="1600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caso(s)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011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Campo documento do extrato = nosso_numero do boleto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0F0F5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468880"/>
            <a:ext cx="7818120" cy="457200"/>
          </a:xfrm>
          <a:prstGeom prst="roundRect">
            <a:avLst>
              <a:gd name="adj" fmla="val 10000"/>
            </a:avLst>
          </a:prstGeom>
          <a:solidFill>
            <a:srgbClr val="00D4AA">
              <a:alpha val="20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2. CNPJ no Texto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0.95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332720" y="25146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332720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caso(s)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926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14 dígitos do CNPJ extraídos do histórico por regex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3832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0F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383280"/>
            <a:ext cx="7242048" cy="457200"/>
          </a:xfrm>
          <a:prstGeom prst="roundRect">
            <a:avLst>
              <a:gd name="adj" fmla="val 10000"/>
            </a:avLst>
          </a:prstGeom>
          <a:solidFill>
            <a:srgbClr val="6C3FC5">
              <a:alpha val="20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3. Nome da Empresa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3FC5"/>
                </a:solidFill>
              </a:rPr>
              <a:t>0.88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332720" y="34290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6C3FC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33272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caso(s)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840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Tokens do nome no histórico truncado, com tratamento de abreviação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2976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0F0F5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4297680"/>
            <a:ext cx="6995160" cy="457200"/>
          </a:xfrm>
          <a:prstGeom prst="roundRect">
            <a:avLst>
              <a:gd name="adj" fmla="val 10000"/>
            </a:avLst>
          </a:prstGeom>
          <a:solidFill>
            <a:srgbClr val="FFB84D">
              <a:alpha val="2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4. IA (Desempate)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4D"/>
                </a:solidFill>
              </a:rPr>
              <a:t>0.85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332720" y="43434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B84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32720" y="4343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 caso(s)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Lista fechada de candidatos para o modelo. Teto de confiança.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52120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0F0F5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5212080"/>
            <a:ext cx="3703320" cy="457200"/>
          </a:xfrm>
          <a:prstGeom prst="roundRect">
            <a:avLst>
              <a:gd name="adj" fmla="val 10000"/>
            </a:avLst>
          </a:prstGeom>
          <a:solidFill>
            <a:srgbClr val="FF6B6B">
              <a:alpha val="20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4400" y="5212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5. Só Valor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5212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</a:rPr>
              <a:t>0.45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332720" y="52578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332720" y="5257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caso(s)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5669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Casou apenas por valor. Nunca automático.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Dois eixos independentes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0F0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3FC5"/>
                </a:solidFill>
              </a:rPr>
              <a:t>Eixo Identidade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AA"/>
                </a:solidFill>
              </a:rPr>
              <a:t>De quem é esse dinheiro?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774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D4AA"/>
                </a:solidFill>
              </a:rPr>
              <a:t>ID_BANCARIO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</a:rPr>
              <a:t> → nosso_numero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D4AA"/>
                </a:solidFill>
              </a:rPr>
              <a:t>CNPJ_TEXTO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</a:rPr>
              <a:t> → CNPJ no histórico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C3FC5"/>
                </a:solidFill>
              </a:rPr>
              <a:t>NOME_FORTE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</a:rPr>
              <a:t> → tokens completos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B84D"/>
                </a:solidFill>
              </a:rPr>
              <a:t>NOME_PARCIAL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</a:rPr>
              <a:t> → cobertura parcial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B84D"/>
                </a:solidFill>
              </a:rPr>
              <a:t>IA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</a:rPr>
              <a:t> → desempate por modelo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SO_VALOR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</a:rPr>
              <a:t> → sem identidade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0F0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3FC5"/>
                </a:solidFill>
              </a:rPr>
              <a:t>Eixo Valor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AA"/>
                </a:solidFill>
              </a:rPr>
              <a:t>Por que o valor difere?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3774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D4AA"/>
                </a:solidFill>
              </a:rPr>
              <a:t>EXATO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</a:rPr>
              <a:t> → centavo a centavo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D4AA"/>
                </a:solidFill>
              </a:rPr>
              <a:t>AGREGADO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</a:rPr>
              <a:t> → 1 crédito = N títulos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C3FC5"/>
                </a:solidFill>
              </a:rPr>
              <a:t>RETENÇÃO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</a:rPr>
              <a:t> → hipótese; exige documento fiscal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C3FC5"/>
                </a:solidFill>
              </a:rPr>
              <a:t>MORA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</a:rPr>
              <a:t> → hipótese; exige contrato/cálculo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B84D"/>
                </a:solidFill>
              </a:rPr>
              <a:t>PARCIAL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</a:rPr>
              <a:t> → saldo permanece cobrável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6B6B"/>
                </a:solidFill>
              </a:rPr>
              <a:t>INEXPLICADO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</a:rPr>
              <a:t> → decisão humana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C3FC5"/>
                </a:solidFill>
              </a:rPr>
              <a:t>03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Contas a Pagar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AA"/>
                </a:solidFill>
              </a:rPr>
              <a:t>A cobrança de R$ 19.278 sob bloqueio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Caso São Jorge — condição de risco de duplicidade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0D4A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06/07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188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São Jorge envia NF 88231 — R$ 18.900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645920"/>
            <a:ext cx="0" cy="320040"/>
          </a:xfrm>
          <a:prstGeom prst="line">
            <a:avLst/>
          </a:prstGeom>
          <a:noFill/>
          <a:ln w="25400">
            <a:solidFill>
              <a:srgbClr val="E0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B8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06/07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WhatsApp: Rafael confirma recebimento com "acho que sim"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2423160"/>
            <a:ext cx="0" cy="320040"/>
          </a:xfrm>
          <a:prstGeom prst="line">
            <a:avLst/>
          </a:prstGeom>
          <a:noFill/>
          <a:ln w="25400">
            <a:solidFill>
              <a:srgbClr val="E0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7432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6B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18/07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743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São Jorge reemite boleto: R$ 19.278 (NF 088231, outro venc.)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3200400"/>
            <a:ext cx="0" cy="320040"/>
          </a:xfrm>
          <a:prstGeom prst="line">
            <a:avLst/>
          </a:prstGeom>
          <a:noFill/>
          <a:ln w="25400">
            <a:solidFill>
              <a:srgbClr val="E0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204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6B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19/07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Camila vê pagamento AGENDADO e lê como já pago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0160" y="3977640"/>
            <a:ext cx="0" cy="320040"/>
          </a:xfrm>
          <a:prstGeom prst="line">
            <a:avLst/>
          </a:prstGeom>
          <a:noFill/>
          <a:ln w="25400">
            <a:solidFill>
              <a:srgbClr val="E0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29768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0D4A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297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20/07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297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Débito real: R$ 18.900 sai da conta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80160" y="4754880"/>
            <a:ext cx="0" cy="320040"/>
          </a:xfrm>
          <a:prstGeom prst="line">
            <a:avLst/>
          </a:prstGeom>
          <a:noFill/>
          <a:ln w="25400">
            <a:solidFill>
              <a:srgbClr val="E0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0749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6B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074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25/07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5074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Boleto de R$ 19.278 continua vivo e pagável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Exposição financeira classificada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FF6B6B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Perda confirmada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B6B"/>
                </a:solidFill>
              </a:rPr>
              <a:t>R$ 0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08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Nenhuma perda materializada foi comprovada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com os documentos do data pack.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FFB84D">
              <a:alpha val="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4D"/>
                </a:solidFill>
              </a:rPr>
              <a:t>Exposição potencial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84D"/>
                </a:solidFill>
              </a:rPr>
              <a:t>R$ 50.528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108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Possível duplicidade em AR e AP.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Bloquear ou suspender até validação.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572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R$ 34.117,82 adicionais estão sem controle documental. </a:t>
            </a:r>
            <a:pPr indent="0" marL="0">
              <a:buNone/>
            </a:pPr>
            <a:r>
              <a:rPr lang="en-US" sz="1200" dirty="0">
                <a:solidFill>
                  <a:srgbClr val="E0E0E8"/>
                </a:solidFill>
              </a:rPr>
              <a:t>Os alertas compartilham grupos de exposição para não contar o mesmo dinheiro duas vezes. Potencial não é perda: a validação humana fecha a classificação.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C3FC5"/>
                </a:solidFill>
              </a:rPr>
              <a:t>04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Em Escala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AA"/>
                </a:solidFill>
              </a:rPr>
              <a:t>De 17 títulos para 1.900 por mês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Identidade limita o espaço de busca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303520" cy="3200400"/>
          </a:xfrm>
          <a:prstGeom prst="roundRect">
            <a:avLst>
              <a:gd name="adj" fmla="val 4286"/>
            </a:avLst>
          </a:prstGeom>
          <a:solidFill>
            <a:srgbClr val="FF6B6B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Sem camada de identidade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194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</a:rPr>
              <a:t>3.230.000*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</a:rPr>
              <a:t>comparações por mês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1.700 créditos x 1.900 títulos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Cada crédito testa contra TODOS os títulos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5303520" cy="3200400"/>
          </a:xfrm>
          <a:prstGeom prst="roundRect">
            <a:avLst>
              <a:gd name="adj" fmla="val 4286"/>
            </a:avLst>
          </a:prstGeom>
          <a:solidFill>
            <a:srgbClr val="00D4AA">
              <a:alpha val="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Com camada de identidade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194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AA"/>
                </a:solidFill>
              </a:rPr>
              <a:t>~8.500*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</a:rPr>
              <a:t>comparações por mês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1.700 créditos x ~5 títulos/entidade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Cada crédito testa contra os títulos DA SUA ENTIDADE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10698480" cy="1097280"/>
          </a:xfrm>
          <a:prstGeom prst="roundRect">
            <a:avLst>
              <a:gd name="adj" fmla="val 12500"/>
            </a:avLst>
          </a:prstGeom>
          <a:solidFill>
            <a:srgbClr val="F0F0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* Cenário ilustrativo, não resultado do piloto.  </a:t>
            </a:r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1.700 créditos × 1.900 títulos versus 5 candidatos por entidade. Volume residual, precisão, latência e custo de IA serão medidos nos 30 dias.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Operação segura no ambiente Vantara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A"/>
                </a:solidFill>
              </a:rPr>
              <a:t>Código reutilizável da Barte; dados e execução sob controle da Vantara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0F0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FC5"/>
                </a:solidFill>
              </a:rPr>
              <a:t>Runtime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Container assinado pela Barte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Executado na conta cloud Vantara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Leitura de exportações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Egress bloqueado por padrão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Chaves no KMS da Vantara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0F0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FC5"/>
                </a:solidFill>
              </a:rPr>
              <a:t>Travas do piloto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Zero escrita no Protheus por 90 dias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CSVs são propostas genéricas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Importação nativa exige homologação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Logs e trilha de evidência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Rollback = não publicar o lote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146304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0F0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FC5"/>
                </a:solidFill>
              </a:rPr>
              <a:t>Governança de IA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IA desligada por padrão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Somente endpoint aprovado/local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Sem dados brutos em SaaS externo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Exceção exige aprovação formal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Humano confirma divergências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Resultado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2D2D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14/15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Créditos vinculados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99,4% do valor analisado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46304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2D2D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48,4%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Alta confiança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8 propostas; sem escrita no ERP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2D2D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R$ 50.528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Exposição potencial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Perda confirmada: R$ 0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2D2D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023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46/46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754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Testes verdes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Inclui limites e casos de estresse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374904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2D2D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80560" y="4023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0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4754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Chamadas à IA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Cascata determinística resolveu tudo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374904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2D2D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0" y="4023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2/2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54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Invariantes aritméticas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</a:rPr>
              <a:t>Precisão semântica será auditada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VANTARA</a:t>
            </a:r>
            <a:endParaRPr lang="en-US" sz="4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CONCILIA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0E8"/>
                </a:solidFill>
              </a:rPr>
              <a:t>A Vantara pediu uma IA que bate pagamento.
</a:t>
            </a:r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O protótipo indica que o gargalo começa na identidade —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e precisa ser provado em um piloto controlado.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FC5"/>
                </a:solidFill>
              </a:rPr>
              <a:t>barte.com</a:t>
            </a:r>
            <a:pPr indent="0" marL="0">
              <a:buNone/>
            </a:pPr>
            <a:r>
              <a:rPr lang="en-US" sz="1400" dirty="0">
                <a:solidFill>
                  <a:srgbClr val="8888AA"/>
                </a:solidFill>
              </a:rPr>
              <a:t>  |  AI Services  |  Outubro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888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2026-10-11T22:26:39Z</dcterms:created>
  <dcterms:modified xsi:type="dcterms:W3CDTF">2026-10-11T22:26:39Z</dcterms:modified>
</cp:coreProperties>
</file>