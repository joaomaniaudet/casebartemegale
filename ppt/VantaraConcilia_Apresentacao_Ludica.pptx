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685800"/>
            <a:ext cx="3337560" cy="3337560"/>
          </a:xfrm>
          <a:prstGeom prst="ellipse">
            <a:avLst/>
          </a:prstGeom>
          <a:solidFill>
            <a:srgbClr val="6D4AFF">
              <a:alpha val="88000"/>
            </a:srgbClr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417320"/>
            <a:ext cx="1874520" cy="1874520"/>
          </a:xfrm>
          <a:prstGeom prst="ellipse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58200" y="1856232"/>
            <a:ext cx="1874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01522"/>
                </a:solidFill>
              </a:rPr>
              <a:t>R$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0" y="425196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42702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PROTHEUS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49640" y="470916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472744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OMIE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104120" y="416052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04120" y="417880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BANCO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915400" y="3840480"/>
            <a:ext cx="-100584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1160" y="3840480"/>
            <a:ext cx="0" cy="8412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46920" y="3794760"/>
            <a:ext cx="1097280" cy="384048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94360"/>
            <a:ext cx="150876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126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VANTARA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1234440"/>
            <a:ext cx="6583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O dinheiro entra.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 identidade não se perde.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58368" y="3410712"/>
            <a:ext cx="6172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5CEDD"/>
                </a:solidFill>
              </a:rPr>
              <a:t>Vantara Concilia transforma exportações bagunçadas em uma fila auditável — sem escrever no ERP e sem chamar hipótese de fato.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4800600"/>
            <a:ext cx="1170432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81888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522"/>
                </a:solidFill>
              </a:rPr>
              <a:t>30 DIAS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65960" y="4800600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20283A"/>
          </a:solidFill>
          <a:ln w="12700">
            <a:solidFill>
              <a:srgbClr val="2028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65960" y="48188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READ-ONLY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29584" y="4800600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20283A"/>
          </a:solidFill>
          <a:ln w="12700">
            <a:solidFill>
              <a:srgbClr val="2028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48188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HUMANO NO CONTROLE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95AA"/>
                </a:solidFill>
              </a:rPr>
              <a:t>Barte AI Services  ·  Outubro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CENA DO PROBLEMA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Uma operação grande tentando fechar o caixa no escuro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 pedido é conciliação. As restrições mostram onde a confiança precisa nascer.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VANTARA CONCILIA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258775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91640"/>
            <a:ext cx="73152" cy="1572768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928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D4AFF"/>
                </a:solidFill>
              </a:rPr>
              <a:t>210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50392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unidades franqueadas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0392" y="27889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47288" y="1691640"/>
            <a:ext cx="258775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691640"/>
            <a:ext cx="73152" cy="15727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18928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82F6"/>
                </a:solidFill>
              </a:rPr>
              <a:t>1.900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703320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títulos a receber/mês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27889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0216" y="1691640"/>
            <a:ext cx="258775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0216" y="1691640"/>
            <a:ext cx="73152" cy="1572768"/>
          </a:xfrm>
          <a:prstGeom prst="rect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18928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1C7A8"/>
                </a:solidFill>
              </a:rPr>
              <a:t>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556248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bancos + sistemas fragmentados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56248" y="27889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53144" y="1691640"/>
            <a:ext cx="258775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53144" y="1691640"/>
            <a:ext cx="73152" cy="15727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09176" y="189280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B6B"/>
                </a:solidFill>
              </a:rPr>
              <a:t>12 dias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409176" y="2441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para fechar o mês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09176" y="27889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611880"/>
            <a:ext cx="6995160" cy="2057400"/>
          </a:xfrm>
          <a:prstGeom prst="roundRect">
            <a:avLst>
              <a:gd name="adj" fmla="val 5333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05072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“A cobrança é o motivo de o franqueado ter raiva da gente.</a:t>
            </a:r>
            <a:endParaRPr lang="en-US" sz="2000" dirty="0"/>
          </a:p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</a:rPr>
              <a:t>Meu time liga para quem já pagou.”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50109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A"/>
                </a:solidFill>
              </a:rPr>
              <a:t>Head de Operações de Franquias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909560" y="3611880"/>
            <a:ext cx="3685032" cy="2057400"/>
          </a:xfrm>
          <a:prstGeom prst="roundRect">
            <a:avLst>
              <a:gd name="adj" fmla="val 5333"/>
            </a:avLst>
          </a:prstGeom>
          <a:solidFill>
            <a:srgbClr val="FFF3D6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09560" y="3611880"/>
            <a:ext cx="73152" cy="205740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65592" y="38130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As três paredes do piloto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65592" y="4270248"/>
            <a:ext cx="32278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01  Algo funcionando em 30 dias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02  Zero escrita no Protheus por 90 dias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03  Produção dentro da infraestrutura Vantara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A APOSTA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Não começar pela IA. Começar pela identidade.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Automatizar o processo atual aceleraria também as cobranças erradas.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VANTARA CONCILIA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84248"/>
            <a:ext cx="868680" cy="310896"/>
          </a:xfrm>
          <a:prstGeom prst="roundRect">
            <a:avLst>
              <a:gd name="adj" fmla="val 4705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025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PEDIDO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96112" y="254203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“Uma IA que bate pagamento”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13632" y="2560320"/>
            <a:ext cx="658368" cy="310896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72768"/>
            <a:ext cx="3703320" cy="2395728"/>
          </a:xfrm>
          <a:prstGeom prst="roundRect">
            <a:avLst>
              <a:gd name="adj" fmla="val 4580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352" y="1828800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18470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02352" y="23957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Uma camada auditável de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72033"/>
                </a:solidFill>
              </a:rPr>
              <a:t>identidade operacional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212080" y="3364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D4AFF"/>
                </a:solidFill>
              </a:rPr>
              <a:t>Quem pagou?  →  O que quitou?  →  Qual ação é segura?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69680" y="2560320"/>
            <a:ext cx="658368" cy="310896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4080" y="1737360"/>
            <a:ext cx="1783080" cy="2057400"/>
          </a:xfrm>
          <a:prstGeom prst="roundRect">
            <a:avLst>
              <a:gd name="adj" fmla="val 6154"/>
            </a:avLst>
          </a:prstGeom>
          <a:solidFill>
            <a:srgbClr val="DDF8F1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31552" y="1984248"/>
            <a:ext cx="1097280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31552" y="20025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522"/>
                </a:solidFill>
              </a:rPr>
              <a:t>COMEÇO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12680" y="26334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Recebíveis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94392" y="310896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AP vira radar de expansão — não desvia o piloto.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868680" y="461772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9848" y="4828032"/>
            <a:ext cx="310896" cy="310896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47731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Sistemas separados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27248" y="4837176"/>
            <a:ext cx="384048" cy="310896"/>
          </a:xfrm>
          <a:prstGeom prst="chevron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30168" y="461772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1336" y="482803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70248" y="47731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Pagamento sem identidade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88736" y="4837176"/>
            <a:ext cx="384048" cy="310896"/>
          </a:xfrm>
          <a:prstGeom prst="chevron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91656" y="461772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92824" y="4828032"/>
            <a:ext cx="310896" cy="310896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31736" y="47731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Conciliação manual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50224" y="4837176"/>
            <a:ext cx="384048" cy="310896"/>
          </a:xfrm>
          <a:prstGeom prst="chevron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53144" y="461772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54312" y="4828032"/>
            <a:ext cx="310896" cy="31089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93224" y="47731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Cobrança indevida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PASSO 0 · INGERIR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Os arquivos entram como vieram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Sem limpeza manual antes: delimitadores, vírgula decimal, encodings e zeros à esquerda são tratados pelo pipeline.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PASSO A PASSO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7360"/>
            <a:ext cx="1965960" cy="347472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1051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PROTHEUS .CSV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2340864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Padaria Vila Nova Ltda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777240" y="2651760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688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18.450,00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777240" y="2962656"/>
            <a:ext cx="169164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7797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000012345678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88920" y="173736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88920" y="1737360"/>
            <a:ext cx="19659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181051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OMIE .CSV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2340864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GRAO NOBRE COM LTDA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926080" y="2651760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4688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31250.00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926080" y="2962656"/>
            <a:ext cx="169164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7797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FAT-2026-0331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4937760" y="173736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1737360"/>
            <a:ext cx="1965960" cy="347472"/>
          </a:xfrm>
          <a:prstGeom prst="rect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7488" y="181051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ITAÚ .CSV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2340864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PIX RECEBIDO...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074920" y="2651760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4688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14.820,00 C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074920" y="2962656"/>
            <a:ext cx="169164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7797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doc. truncado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7086600" y="1737360"/>
            <a:ext cx="1965960" cy="20574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1737360"/>
            <a:ext cx="1965960" cy="347472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181051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INBOX .TXT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23760" y="2340864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15798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NF 088231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223760" y="2651760"/>
            <a:ext cx="1691640" cy="0"/>
          </a:xfrm>
          <a:prstGeom prst="line">
            <a:avLst/>
          </a:prstGeom>
          <a:noFill/>
          <a:ln w="10160">
            <a:solidFill>
              <a:srgbClr val="DDE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23760" y="246888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R$ 19.278,00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7223760" y="2962656"/>
            <a:ext cx="1691640" cy="0"/>
          </a:xfrm>
          <a:prstGeom prst="line">
            <a:avLst/>
          </a:prstGeom>
          <a:noFill/>
          <a:ln w="1016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27797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12 de 15 volumes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9345168" y="2615184"/>
            <a:ext cx="603504" cy="310896"/>
          </a:xfrm>
          <a:prstGeom prst="chevron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95560" y="1600200"/>
            <a:ext cx="1353312" cy="2331720"/>
          </a:xfrm>
          <a:prstGeom prst="roundRect">
            <a:avLst>
              <a:gd name="adj" fmla="val 8108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51008" y="2084832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SCHEMA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CANÔNICO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442448" y="27614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5C8"/>
                </a:solidFill>
              </a:rPr>
              <a:t>entidade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5C8"/>
                </a:solidFill>
              </a:rPr>
              <a:t>documento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5C8"/>
                </a:solidFill>
              </a:rPr>
              <a:t>valor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5C8"/>
                </a:solidFill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AB5C8"/>
                </a:solidFill>
              </a:rPr>
              <a:t>fonte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5800" y="4370832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5800" y="4370832"/>
            <a:ext cx="73152" cy="1143000"/>
          </a:xfrm>
          <a:prstGeom prst="rect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1832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Preserva o bruto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41832" y="50292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o identificador 000012345678 continua com 12 dígitos</a:t>
            </a:r>
            <a:endParaRPr lang="en-US" sz="930" dirty="0"/>
          </a:p>
        </p:txBody>
      </p:sp>
      <p:sp>
        <p:nvSpPr>
          <p:cNvPr id="51" name="Shape 49"/>
          <p:cNvSpPr/>
          <p:nvPr/>
        </p:nvSpPr>
        <p:spPr>
          <a:xfrm>
            <a:off x="4462272" y="4370832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62272" y="4370832"/>
            <a:ext cx="73152" cy="114300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Falha visível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718304" y="50292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linha inválida vira aviso/quarentena; não some silenciosamente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8238744" y="4370832"/>
            <a:ext cx="3474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38744" y="4370832"/>
            <a:ext cx="73152" cy="114300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94776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Adapter por fonte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494776" y="50292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</a:rPr>
              <a:t>novo ERP exige adapter; o restante do motor permanece igual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PASSO 1 · RESOLVER IDENTIDADE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O mesmo cliente usa dois crachás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CNPJ une a entidade; coincidência de valor e vencimento gera suspeita — nunca baixa automática.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PASSO A PASSO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737360"/>
            <a:ext cx="73152" cy="2057400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38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PROTHEUS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Grão Nobre Comércio Ltda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CNPJ 55.666.777/0001-44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NF 104580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R$ 31.250 · venc. 20/07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27264" y="173736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27264" y="1737360"/>
            <a:ext cx="73152" cy="2057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83296" y="1938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OMIE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83296" y="2395728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GRAO NOBRE COM LTDA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CNPJ 55666777000144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FAT-2026-0331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R$ 31.250 · venc. 20/07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82312" y="1536192"/>
            <a:ext cx="2606040" cy="2606040"/>
          </a:xfrm>
          <a:prstGeom prst="ellipse">
            <a:avLst/>
          </a:prstGeom>
          <a:solidFill>
            <a:srgbClr val="EEEAFE"/>
          </a:solidFill>
          <a:ln w="25400">
            <a:solidFill>
              <a:srgbClr val="6D4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993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D4AFF"/>
                </a:solidFill>
              </a:rPr>
              <a:t>1 entidade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49240" y="2551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mesmo CNPJ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108960"/>
            <a:ext cx="1737360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FORTE INDÍCIO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97280" y="4407408"/>
            <a:ext cx="9985248" cy="1060704"/>
          </a:xfrm>
          <a:prstGeom prst="roundRect">
            <a:avLst>
              <a:gd name="adj" fmla="val 10345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6725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Ação segura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4626864"/>
            <a:ext cx="8156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033"/>
                </a:solidFill>
              </a:rPr>
              <a:t>Suspender a cobrança por até 48h → conferir pedido/contrato/documento de origem → só então concluir duplicidade ou dívida legítima.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4434840" y="5669280"/>
            <a:ext cx="3337560" cy="310896"/>
          </a:xfrm>
          <a:prstGeom prst="roundRect">
            <a:avLst>
              <a:gd name="adj" fmla="val 47059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568756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R$ 31.250 SOB VALIDAÇÃO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PASSO 2 · VINCULAR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A evidência mais forte fala primeiro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cascata para no primeiro vínculo defensável. Quanto mais fraca a evidência, maior a intervenção humana.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PASSO A PASSO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27632"/>
            <a:ext cx="475488" cy="475488"/>
          </a:xfrm>
          <a:prstGeom prst="ellipse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367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Nosso Número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53312" y="195681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campo bancário direto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1728216"/>
            <a:ext cx="4297680" cy="219456"/>
          </a:xfrm>
          <a:prstGeom prst="roundRect">
            <a:avLst>
              <a:gd name="adj" fmla="val 41667"/>
            </a:avLst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1568" y="1728216"/>
            <a:ext cx="4254703" cy="219456"/>
          </a:xfrm>
          <a:prstGeom prst="roundRect">
            <a:avLst>
              <a:gd name="adj" fmla="val 41667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1645920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73568" y="16642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casos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" y="2459736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6888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3312" y="250545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CNPJ no texto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53312" y="27889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 dígitos no histórico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01568" y="2560320"/>
            <a:ext cx="4297680" cy="219456"/>
          </a:xfrm>
          <a:prstGeom prst="roundRect">
            <a:avLst>
              <a:gd name="adj" fmla="val 41667"/>
            </a:avLst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1568" y="2560320"/>
            <a:ext cx="4082796" cy="219456"/>
          </a:xfrm>
          <a:prstGeom prst="roundRect">
            <a:avLst>
              <a:gd name="adj" fmla="val 41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73568" y="2478024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73568" y="249631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casos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3291840"/>
            <a:ext cx="475488" cy="475488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30098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53312" y="33375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Nome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53312" y="36210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completo ou truncado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01568" y="3392424"/>
            <a:ext cx="4297680" cy="219456"/>
          </a:xfrm>
          <a:prstGeom prst="roundRect">
            <a:avLst>
              <a:gd name="adj" fmla="val 41667"/>
            </a:avLst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01568" y="3392424"/>
            <a:ext cx="3610051" cy="219456"/>
          </a:xfrm>
          <a:prstGeom prst="roundRect">
            <a:avLst>
              <a:gd name="adj" fmla="val 41667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73568" y="3310128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33284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 casos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" y="4123944"/>
            <a:ext cx="475488" cy="47548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3308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53312" y="416966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53312" y="445312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desempate em lista fechada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01568" y="4224528"/>
            <a:ext cx="4297680" cy="219456"/>
          </a:xfrm>
          <a:prstGeom prst="roundRect">
            <a:avLst>
              <a:gd name="adj" fmla="val 41667"/>
            </a:avLst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1568" y="4224528"/>
            <a:ext cx="3653028" cy="219456"/>
          </a:xfrm>
          <a:prstGeom prst="roundRect">
            <a:avLst>
              <a:gd name="adj" fmla="val 41667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73568" y="4142232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73568" y="41605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0 casos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" y="4956048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96519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53312" y="5001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Só valor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53312" y="52852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nunca automático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1568" y="5056632"/>
            <a:ext cx="4297680" cy="219456"/>
          </a:xfrm>
          <a:prstGeom prst="roundRect">
            <a:avLst>
              <a:gd name="adj" fmla="val 41667"/>
            </a:avLst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01568" y="5056632"/>
            <a:ext cx="1933956" cy="219456"/>
          </a:xfrm>
          <a:prstGeom prst="roundRect">
            <a:avLst>
              <a:gd name="adj" fmla="val 4166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73568" y="4974336"/>
            <a:ext cx="1143000" cy="310896"/>
          </a:xfrm>
          <a:prstGeom prst="roundRect">
            <a:avLst>
              <a:gd name="adj" fmla="val 4705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73568" y="49926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 caso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464040" y="1627632"/>
            <a:ext cx="2148840" cy="4023360"/>
          </a:xfrm>
          <a:prstGeom prst="roundRect">
            <a:avLst>
              <a:gd name="adj" fmla="val 5106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02368" y="1920240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30" kern="0" dirty="0">
                <a:solidFill>
                  <a:srgbClr val="9AA6BA"/>
                </a:solidFill>
              </a:rPr>
              <a:t>DECISÃO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646920" y="23408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1C7A8"/>
                </a:solidFill>
              </a:rPr>
              <a:t>8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10488168" y="238658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propostas 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alta confiança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811512" y="3108960"/>
            <a:ext cx="1463040" cy="0"/>
          </a:xfrm>
          <a:prstGeom prst="line">
            <a:avLst/>
          </a:prstGeom>
          <a:noFill/>
          <a:ln w="12700">
            <a:solidFill>
              <a:srgbClr val="39445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46920" y="33649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4B740"/>
                </a:solidFill>
              </a:rPr>
              <a:t>6</a:t>
            </a:r>
            <a:endParaRPr lang="en-US" sz="2700" dirty="0"/>
          </a:p>
        </p:txBody>
      </p:sp>
      <p:sp>
        <p:nvSpPr>
          <p:cNvPr id="53" name="Text 51"/>
          <p:cNvSpPr/>
          <p:nvPr/>
        </p:nvSpPr>
        <p:spPr>
          <a:xfrm>
            <a:off x="10488168" y="3410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casos para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confirmação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811512" y="4133088"/>
            <a:ext cx="1463040" cy="0"/>
          </a:xfrm>
          <a:prstGeom prst="line">
            <a:avLst/>
          </a:prstGeom>
          <a:noFill/>
          <a:ln w="12700">
            <a:solidFill>
              <a:srgbClr val="3944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46920" y="4389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6B"/>
                </a:solidFill>
              </a:rPr>
              <a:t>1</a:t>
            </a:r>
            <a:endParaRPr lang="en-US" sz="2700" dirty="0"/>
          </a:p>
        </p:txBody>
      </p:sp>
      <p:sp>
        <p:nvSpPr>
          <p:cNvPr id="56" name="Text 54"/>
          <p:cNvSpPr/>
          <p:nvPr/>
        </p:nvSpPr>
        <p:spPr>
          <a:xfrm>
            <a:off x="10488168" y="4434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crédito sem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título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9720072" y="5138928"/>
            <a:ext cx="1627632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720072" y="51572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 ESCRITA NO ERP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PASSO 3 · EXPLICAR O VALOR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Diferente não significa errado — nem correto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 motor reconhece padrões; documentos e contratos transformam hipótese em decisão.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PASSO A PASSO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10972800" cy="1078992"/>
          </a:xfrm>
          <a:prstGeom prst="roundRect">
            <a:avLst>
              <a:gd name="adj" fmla="val 10169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792224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1051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HIPÓTESE · RETENÇÃO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82112" y="1801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R$ 15.600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28032" y="1865376"/>
            <a:ext cx="475488" cy="310896"/>
          </a:xfrm>
          <a:prstGeom prst="chevron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1801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R$ 14.820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59752" y="1810512"/>
            <a:ext cx="157276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182880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740"/>
                </a:solidFill>
              </a:rPr>
              <a:t>− R$ 780 (5%)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42832" y="17922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Compatível com retenção. Exige documento fiscal/tributário antes da baixa.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017520"/>
            <a:ext cx="10972800" cy="1078992"/>
          </a:xfrm>
          <a:prstGeom prst="roundRect">
            <a:avLst>
              <a:gd name="adj" fmla="val 10169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182112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0040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HIPÓTESE · MORA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82112" y="31912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R$ 22.900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28032" y="3255264"/>
            <a:ext cx="475488" cy="310896"/>
          </a:xfrm>
          <a:prstGeom prst="chevron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31912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R$ 23.358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59752" y="3200400"/>
            <a:ext cx="157276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32186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740"/>
                </a:solidFill>
              </a:rPr>
              <a:t>+ R$ 458 (2%)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942832" y="31821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Compatível com multa/juros. Exige contrato e memória de cálculo.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4407408"/>
            <a:ext cx="10972800" cy="1078992"/>
          </a:xfrm>
          <a:prstGeom prst="roundRect">
            <a:avLst>
              <a:gd name="adj" fmla="val 10169"/>
            </a:avLst>
          </a:prstGeom>
          <a:solidFill>
            <a:srgbClr val="E7F0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572000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5902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FATO · PARCIAL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82112" y="45811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R$ 125.000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828032" y="4645152"/>
            <a:ext cx="475488" cy="310896"/>
          </a:xfrm>
          <a:prstGeom prst="chevron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45811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</a:rPr>
              <a:t>R$ 62.500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7159752" y="4590288"/>
            <a:ext cx="1572768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46085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saldo R$ 62.500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942832" y="457200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O identificador bancário sustenta o recebimento parcial; o saldo permanece aberto.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PASSO 4 · OPERAR EXCEÇÕES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A analista não recebe uma caixa-preta. Recebe uma fila.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Cada linha traz ação, confiança, evidência, saldo e responsável.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PASSO A PASSO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3017520" cy="2121408"/>
          </a:xfrm>
          <a:prstGeom prst="roundRect">
            <a:avLst>
              <a:gd name="adj" fmla="val 5172"/>
            </a:avLst>
          </a:prstGeom>
          <a:solidFill>
            <a:srgbClr val="DDF8F1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99339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AUTO_APLICAR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58775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8 casos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11810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Entram no arquivo de propostas. A Vantara continua sendo a autoridade de aplicação.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005072" y="1737360"/>
            <a:ext cx="3017520" cy="2121408"/>
          </a:xfrm>
          <a:prstGeom prst="roundRect">
            <a:avLst>
              <a:gd name="adj" fmla="val 5172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99339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2011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CONFIRMAR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61104" y="258775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6 casos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61104" y="311810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Retenção, mora, nome parcial ou divergência pedem documento e chancela humana.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351776" y="1737360"/>
            <a:ext cx="3017520" cy="2121408"/>
          </a:xfrm>
          <a:prstGeom prst="roundRect">
            <a:avLst>
              <a:gd name="adj" fmla="val 5172"/>
            </a:avLst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07808" y="1993392"/>
            <a:ext cx="1481328" cy="310896"/>
          </a:xfrm>
          <a:prstGeom prst="roundRect">
            <a:avLst>
              <a:gd name="adj" fmla="val 4705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20116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INVESTIGAR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607808" y="258775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1 sem título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07808" y="311810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Nenhum saldo é consumido; o caixa permanece visível até surgir evidência suficiente.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05840" y="4434840"/>
            <a:ext cx="10168128" cy="1060704"/>
          </a:xfrm>
          <a:prstGeom prst="roundRect">
            <a:avLst>
              <a:gd name="adj" fmla="val 10345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4782312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6B6B"/>
                </a:solidFill>
              </a:rPr>
              <a:t>TRAVA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21408" y="471830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Sem baixa automática  ·  sem cobrança automática  ·  sem liberação automática de fornecedor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985248" y="4700016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85248" y="471830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SHADOW MODE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SAÍDA REAL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O que a segunda-feira de manhã recebe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Resultados reproduzidos pelo modo determinístico no data pack de julho.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RESULTADO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627632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627632"/>
            <a:ext cx="73152" cy="1481328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28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6D4AFF"/>
                </a:solidFill>
              </a:rPr>
              <a:t>14/15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59536" y="2377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créditos vinculados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99,4% do valor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65576" y="1627632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65576" y="1627632"/>
            <a:ext cx="73152" cy="1481328"/>
          </a:xfrm>
          <a:prstGeom prst="rect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1828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1C7A8"/>
                </a:solidFill>
              </a:rPr>
              <a:t>8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721608" y="2377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propostas de alta confiança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21608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48,4% do valor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27648" y="1627632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1627632"/>
            <a:ext cx="73152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28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82F6"/>
                </a:solidFill>
              </a:rPr>
              <a:t>0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583680" y="2377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chamadas à 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regras bastaram na amostra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1627632"/>
            <a:ext cx="260604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627632"/>
            <a:ext cx="73152" cy="1481328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18288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B740"/>
                </a:solidFill>
              </a:rPr>
              <a:t>46/46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445752" y="2377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testes verdes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45752" y="2724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inclui stress e limites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" y="35112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Saldo em aberto, decomposto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" y="39776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3977640"/>
            <a:ext cx="73152" cy="141732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78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B740"/>
                </a:solidFill>
              </a:rPr>
              <a:t>R$ 31.250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14400" y="47274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possível duplicidade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507492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suspender e validar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30168" y="39776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30168" y="3977640"/>
            <a:ext cx="73152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4178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B82F6"/>
                </a:solidFill>
              </a:rPr>
              <a:t>R$ 62.500</a:t>
            </a:r>
            <a:endParaRPr lang="en-US" sz="2300" dirty="0"/>
          </a:p>
        </p:txBody>
      </p:sp>
      <p:sp>
        <p:nvSpPr>
          <p:cNvPr id="36" name="Text 34"/>
          <p:cNvSpPr/>
          <p:nvPr/>
        </p:nvSpPr>
        <p:spPr>
          <a:xfrm>
            <a:off x="3886200" y="47274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saldo parcial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86200" y="507492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cobrar apenas o saldo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01968" y="39776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01968" y="3977640"/>
            <a:ext cx="73152" cy="1417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178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B6B"/>
                </a:solidFill>
              </a:rPr>
              <a:t>R$ 8.120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6858000" y="47274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sem match neste extrato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5074920"/>
            <a:ext cx="2240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validar outros bancos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555480" y="3447288"/>
            <a:ext cx="1993392" cy="2075688"/>
          </a:xfrm>
          <a:prstGeom prst="roundRect">
            <a:avLst>
              <a:gd name="adj" fmla="val 5505"/>
            </a:avLst>
          </a:prstGeom>
          <a:solidFill>
            <a:srgbClr val="FFE8E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02368" y="3822192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6B6B"/>
                </a:solidFill>
              </a:rPr>
              <a:t>1 de 4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9902952" y="444398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contas bancárias está no data pack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829800" y="5001768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</a:rPr>
              <a:t>Sem match não prova inadimplência.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58368" y="5650992"/>
            <a:ext cx="8641080" cy="475488"/>
          </a:xfrm>
          <a:prstGeom prst="roundRect">
            <a:avLst>
              <a:gd name="adj" fmla="val 23077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" y="5779008"/>
            <a:ext cx="8165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Fechamento:  R$ 152.880 validado para proposta  ·  R$ 162.928,50 em análise humana  ·  R$ 315.808,50 total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RADAR SECUNDÁRIO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Contas a pagar mostra valor — mas não rouba o piloto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expansão é defensável porque lê evidência não estruturada; a implantação inicial continua em Recebíveis.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EXPANSÃO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2670048"/>
            <a:ext cx="6995160" cy="0"/>
          </a:xfrm>
          <a:prstGeom prst="line">
            <a:avLst/>
          </a:prstGeom>
          <a:noFill/>
          <a:ln w="381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404872"/>
            <a:ext cx="530352" cy="530352"/>
          </a:xfrm>
          <a:prstGeom prst="ellipse">
            <a:avLst/>
          </a:prstGeom>
          <a:solidFill>
            <a:srgbClr val="6D4A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664208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06/07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3163824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NF 88231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63931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R$ 18.900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01568" y="2404872"/>
            <a:ext cx="530352" cy="530352"/>
          </a:xfrm>
          <a:prstGeom prst="ellipse">
            <a:avLst/>
          </a:prstGeom>
          <a:solidFill>
            <a:srgbClr val="FF6B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63824" y="1664208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18/07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3163824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cobrança reemitida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363931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R$ 19.278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05856" y="2404872"/>
            <a:ext cx="530352" cy="530352"/>
          </a:xfrm>
          <a:prstGeom prst="ellipse">
            <a:avLst/>
          </a:prstGeom>
          <a:solidFill>
            <a:srgbClr val="F4B7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68112" y="1664208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19/07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21808" y="3163824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agendado lido como pago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21808" y="363931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dúvida sem dono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10144" y="2404872"/>
            <a:ext cx="530352" cy="530352"/>
          </a:xfrm>
          <a:prstGeom prst="ellipse">
            <a:avLst/>
          </a:prstGeom>
          <a:solidFill>
            <a:srgbClr val="21C7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1664208"/>
            <a:ext cx="1005840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20/07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26096" y="3163824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débito no extrato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26096" y="363931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R$ 18.900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732520" y="1600200"/>
            <a:ext cx="2816352" cy="2404872"/>
          </a:xfrm>
          <a:prstGeom prst="roundRect">
            <a:avLst>
              <a:gd name="adj" fmla="val 4563"/>
            </a:avLst>
          </a:prstGeom>
          <a:solidFill>
            <a:srgbClr val="FFE8E8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1600200"/>
            <a:ext cx="73152" cy="24048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88552" y="1801368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6B6B"/>
                </a:solidFill>
              </a:rPr>
              <a:t>R$ 19.278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8988552" y="235000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exposição potencial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88552" y="2697480"/>
            <a:ext cx="235915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Bloquear e validar com fornecedor e documentos. Não é perda confirmada.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" y="4572000"/>
            <a:ext cx="5138928" cy="932688"/>
          </a:xfrm>
          <a:prstGeom prst="roundRect">
            <a:avLst>
              <a:gd name="adj" fmla="val 11765"/>
            </a:avLst>
          </a:prstGeom>
          <a:solidFill>
            <a:srgbClr val="FFF3D6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47914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12 de 15 volumes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61488" y="47457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prova entrega parcial; não permite calcular perda monetária sem preço por item e condição comercial.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99632" y="4572000"/>
            <a:ext cx="5074920" cy="932688"/>
          </a:xfrm>
          <a:prstGeom prst="roundRect">
            <a:avLst>
              <a:gd name="adj" fmla="val 11765"/>
            </a:avLst>
          </a:prstGeom>
          <a:solidFill>
            <a:srgbClr val="E7F0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79145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R$ 34.117,82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10728" y="47457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sem controle verificável porque o anexo citado não foi fornecido. Visível, mas não classificado como perda.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ARQUITETURA DE PRODUÇÃO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A Barte leva o motor. A Vantara mantém a casa.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 protótipo roda localmente; este é o desenho proposto para produção, sujeito à aprovação interna da Barte.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ARQUITETURA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27632"/>
            <a:ext cx="2880360" cy="4297680"/>
          </a:xfrm>
          <a:prstGeom prst="roundRect">
            <a:avLst>
              <a:gd name="adj" fmla="val 3810"/>
            </a:avLst>
          </a:prstGeom>
          <a:solidFill>
            <a:srgbClr val="EEEAFE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74520"/>
            <a:ext cx="822960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928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BARTE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Core reutilizável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2688" y="3035808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9900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código-fonte único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32688" y="3474720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4290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CI e testes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32688" y="3913632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86791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imagem assinada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2688" y="4352544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3068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versões e suporte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" y="4791456"/>
            <a:ext cx="164592" cy="16459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474573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adapter contract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2688" y="5404104"/>
            <a:ext cx="233172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42239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4AFF"/>
                </a:solidFill>
              </a:rPr>
              <a:t>SEM DADOS FINANCEIROS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840480" y="3337560"/>
            <a:ext cx="731520" cy="310896"/>
          </a:xfrm>
          <a:prstGeom prst="chevron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77647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imagem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assinada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1481328"/>
            <a:ext cx="6720840" cy="4572000"/>
          </a:xfrm>
          <a:prstGeom prst="roundRect">
            <a:avLst>
              <a:gd name="adj" fmla="val 2400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1773936"/>
            <a:ext cx="1572768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79222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522"/>
                </a:solidFill>
              </a:rPr>
              <a:t>CLOUD VANTARA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67728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Dados e execução ficam aqui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230368" y="274320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20283A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33872" y="2907792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401568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Exports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358384" y="3657600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AAB5C8"/>
                </a:solidFill>
              </a:rPr>
              <a:t>Protheus · Omie · bancos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894576" y="3200400"/>
            <a:ext cx="274320" cy="310896"/>
          </a:xfrm>
          <a:prstGeom prst="chevron">
            <a:avLst/>
          </a:prstGeom>
          <a:solidFill>
            <a:srgbClr val="516078"/>
          </a:solidFill>
          <a:ln w="12700">
            <a:solidFill>
              <a:srgbClr val="5160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0336" y="274320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20283A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63840" y="2907792"/>
            <a:ext cx="365760" cy="36576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3401568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Container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388352" y="3657600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AAB5C8"/>
                </a:solidFill>
              </a:rPr>
              <a:t>identidade + matching + filas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924544" y="3200400"/>
            <a:ext cx="274320" cy="310896"/>
          </a:xfrm>
          <a:prstGeom prst="chevron">
            <a:avLst/>
          </a:prstGeom>
          <a:solidFill>
            <a:srgbClr val="516078"/>
          </a:solidFill>
          <a:ln w="12700">
            <a:solidFill>
              <a:srgbClr val="51607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0304" y="2743200"/>
            <a:ext cx="1572768" cy="1234440"/>
          </a:xfrm>
          <a:prstGeom prst="roundRect">
            <a:avLst>
              <a:gd name="adj" fmla="val 8889"/>
            </a:avLst>
          </a:prstGeom>
          <a:solidFill>
            <a:srgbClr val="20283A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93808" y="2907792"/>
            <a:ext cx="365760" cy="365760"/>
          </a:xfrm>
          <a:prstGeom prst="ellipse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54896" y="3401568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Saídas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418320" y="3657600"/>
            <a:ext cx="1316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AAB5C8"/>
                </a:solidFill>
              </a:rPr>
              <a:t>CSV · HTML · logs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285232" y="4462272"/>
            <a:ext cx="1115568" cy="310896"/>
          </a:xfrm>
          <a:prstGeom prst="roundRect">
            <a:avLst>
              <a:gd name="adj" fmla="val 4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85232" y="448056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READ-ONLY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29400" y="4462272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20283A"/>
          </a:solidFill>
          <a:ln w="12700">
            <a:solidFill>
              <a:srgbClr val="2028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44805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KMS VANTARA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75320" y="4462272"/>
            <a:ext cx="1719072" cy="310896"/>
          </a:xfrm>
          <a:prstGeom prst="roundRect">
            <a:avLst>
              <a:gd name="adj" fmla="val 4705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5320" y="448056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EGRESS BLOQUEADO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204704" y="4462272"/>
            <a:ext cx="1078992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04704" y="44805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ZERO ESCRITA ERP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85232" y="5166360"/>
            <a:ext cx="5989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5CEDD"/>
                </a:solidFill>
              </a:rPr>
              <a:t>IA desligada por padrão. Se usada: endpoint local ou explicitamente aprovado pela Vantara.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CONFIABILIDADE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Como descobrir o erro antes do franqueado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A conferência ao centavo é necessária, mas não suficiente: matemática certa ainda pode esconder vínculo errado.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OPERAÇÃO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37360"/>
            <a:ext cx="2487168" cy="33832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993392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0253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Entrada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761488"/>
            <a:ext cx="19751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campos obrigatórios e linhas rejeitadas ficam visíveis; erro estrutural interrompe a execução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60704" y="4462272"/>
            <a:ext cx="1682496" cy="310896"/>
          </a:xfrm>
          <a:prstGeom prst="roundRect">
            <a:avLst>
              <a:gd name="adj" fmla="val 47059"/>
            </a:avLst>
          </a:prstGeom>
          <a:solidFill>
            <a:srgbClr val="DDF8F1"/>
          </a:solidFill>
          <a:ln w="12700">
            <a:solidFill>
              <a:srgbClr val="DDF8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448056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C7A8"/>
                </a:solidFill>
              </a:rPr>
              <a:t>IMPLEMENTADO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29000" y="1737360"/>
            <a:ext cx="2487168" cy="33832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66744" y="1993392"/>
            <a:ext cx="530352" cy="530352"/>
          </a:xfrm>
          <a:prstGeom prst="ellipse">
            <a:avLst/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66744" y="200253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25112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Aritmética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85032" y="2761488"/>
            <a:ext cx="19751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duas invariantes conservam títulos e caixa; diferença acima da tolerância de um centavo interrompe a geração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31336" y="4462272"/>
            <a:ext cx="1682496" cy="310896"/>
          </a:xfrm>
          <a:prstGeom prst="roundRect">
            <a:avLst>
              <a:gd name="adj" fmla="val 47059"/>
            </a:avLst>
          </a:prstGeom>
          <a:solidFill>
            <a:srgbClr val="DDF8F1"/>
          </a:solidFill>
          <a:ln w="12700">
            <a:solidFill>
              <a:srgbClr val="DDF8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448056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C7A8"/>
                </a:solidFill>
              </a:rPr>
              <a:t>IMPLEMENTADO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9632" y="1737360"/>
            <a:ext cx="2487168" cy="33832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993392"/>
            <a:ext cx="530352" cy="530352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200253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95744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Semântica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55664" y="2761488"/>
            <a:ext cx="19751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golden set e auditoria medem precisão por tier; confiança sem validação não vira automação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01968" y="4462272"/>
            <a:ext cx="1682496" cy="310896"/>
          </a:xfrm>
          <a:prstGeom prst="roundRect">
            <a:avLst>
              <a:gd name="adj" fmla="val 47059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448056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740"/>
                </a:solidFill>
              </a:rPr>
              <a:t>GATE DO PILOTO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970264" y="1737360"/>
            <a:ext cx="2487168" cy="33832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08008" y="1993392"/>
            <a:ext cx="530352" cy="53035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08008" y="200253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866376" y="2029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Ação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226296" y="2761488"/>
            <a:ext cx="197510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shadow mode, zero escrita e zero cobrança automática impedem que erro alcance o cliente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72600" y="4462272"/>
            <a:ext cx="1682496" cy="310896"/>
          </a:xfrm>
          <a:prstGeom prst="roundRect">
            <a:avLst>
              <a:gd name="adj" fmla="val 47059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448056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B740"/>
                </a:solidFill>
              </a:rPr>
              <a:t>GATE DO PILOTO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0" y="5486400"/>
            <a:ext cx="8549640" cy="475488"/>
          </a:xfrm>
          <a:prstGeom prst="roundRect">
            <a:avLst>
              <a:gd name="adj" fmla="val 23077"/>
            </a:avLst>
          </a:prstGeom>
          <a:solidFill>
            <a:srgbClr val="101522"/>
          </a:solidFill>
          <a:ln w="12700">
            <a:solidFill>
              <a:srgbClr val="1015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57400" y="5605272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 a evidência não sustenta a decisão, o sistema se abstém — e explica por quê.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D4AFF"/>
                </a:solidFill>
              </a:rPr>
              <a:t>PLANO DE IMPLANTAÇÃO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033"/>
                </a:solidFill>
              </a:rPr>
              <a:t>Quatro semanas para provar — ou parar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155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 piloto compra evidência operacional, não uma promessa de automação.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30 DIAS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664208"/>
            <a:ext cx="1261872" cy="310896"/>
          </a:xfrm>
          <a:prstGeom prst="roundRect">
            <a:avLst>
              <a:gd name="adj" fmla="val 4705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6824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SEMANA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56816" y="1819656"/>
            <a:ext cx="1188720" cy="0"/>
          </a:xfrm>
          <a:prstGeom prst="line">
            <a:avLst/>
          </a:prstGeom>
          <a:noFill/>
          <a:ln w="381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Entradas + golden 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2706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exports read-only, casos de julho assinados pela Controller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3456432" y="1664208"/>
            <a:ext cx="1261872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824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SEMANA 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819656"/>
            <a:ext cx="1188720" cy="0"/>
          </a:xfrm>
          <a:prstGeom prst="line">
            <a:avLst/>
          </a:prstGeom>
          <a:noFill/>
          <a:ln w="381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Fila em shadow mode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56432" y="2706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execução diária, exceção com evidência e dono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254496" y="1664208"/>
            <a:ext cx="1261872" cy="310896"/>
          </a:xfrm>
          <a:prstGeom prst="roundRect">
            <a:avLst>
              <a:gd name="adj" fmla="val 47059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6824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SEMANA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52944" y="1819656"/>
            <a:ext cx="1188720" cy="0"/>
          </a:xfrm>
          <a:prstGeom prst="line">
            <a:avLst/>
          </a:prstGeom>
          <a:noFill/>
          <a:ln w="38100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Medição por tier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54496" y="2706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precisão, falso positivo e tempo de revisão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9052560" y="1664208"/>
            <a:ext cx="1261872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68249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SEMANA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351008" y="1819656"/>
            <a:ext cx="1188720" cy="0"/>
          </a:xfrm>
          <a:prstGeom prst="line">
            <a:avLst/>
          </a:prstGeom>
          <a:noFill/>
          <a:ln w="38100">
            <a:solidFill>
              <a:srgbClr val="F7F8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2212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033"/>
                </a:solidFill>
              </a:rPr>
              <a:t>Decisão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52560" y="270662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aceitar, recalibrar ou interromper com métricas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58368" y="4096512"/>
            <a:ext cx="5230368" cy="1481328"/>
          </a:xfrm>
          <a:prstGeom prst="roundRect">
            <a:avLst>
              <a:gd name="adj" fmla="val 7407"/>
            </a:avLst>
          </a:prstGeom>
          <a:solidFill>
            <a:srgbClr val="EEEAF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096512"/>
            <a:ext cx="73152" cy="1481328"/>
          </a:xfrm>
          <a:prstGeom prst="rect">
            <a:avLst/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297680"/>
            <a:ext cx="4773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Reutilizável nas próximas cinco contas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754880"/>
            <a:ext cx="4773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schema canônico · adapters · resolução de identidade · cascata de matching · invariantes · filas · contrato de 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81928" y="4096512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E7F0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81928" y="4096512"/>
            <a:ext cx="73152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4297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Específico da Vantara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47548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layouts de exportação · contas bancárias · políticas aprovadas · tolerâncias · mapeamentos · destinatários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66928"/>
            <a:ext cx="1755648" cy="310896"/>
          </a:xfrm>
          <a:prstGeom prst="roundRect">
            <a:avLst>
              <a:gd name="adj" fmla="val 47059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852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REUNIÃO COM O 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4800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Três decisões.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Nenhum salto de fé.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76656" y="2743200"/>
            <a:ext cx="4526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5CEDD"/>
                </a:solidFill>
              </a:rPr>
              <a:t>O objetivo não é aprovar uma IA. É liberar um piloto controlado que produz evidência dentro das regras da Vantara.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" y="3977640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20283A"/>
          </a:solidFill>
          <a:ln w="12700">
            <a:solidFill>
              <a:srgbClr val="202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39959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 ESCRITA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3977640"/>
            <a:ext cx="1847088" cy="310896"/>
          </a:xfrm>
          <a:prstGeom prst="roundRect">
            <a:avLst>
              <a:gd name="adj" fmla="val 47059"/>
            </a:avLst>
          </a:prstGeom>
          <a:solidFill>
            <a:srgbClr val="20283A"/>
          </a:solidFill>
          <a:ln w="12700">
            <a:solidFill>
              <a:srgbClr val="202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399592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ZERO COBRANÇA AUTO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50792" y="3977640"/>
            <a:ext cx="1527048" cy="310896"/>
          </a:xfrm>
          <a:prstGeom prst="roundRect">
            <a:avLst>
              <a:gd name="adj" fmla="val 47059"/>
            </a:avLst>
          </a:prstGeom>
          <a:solidFill>
            <a:srgbClr val="21C7A8"/>
          </a:solidFill>
          <a:ln w="12700">
            <a:solidFill>
              <a:srgbClr val="21C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0792" y="3995928"/>
            <a:ext cx="1527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1522"/>
                </a:solidFill>
              </a:rPr>
              <a:t>DADOS NA VANTARA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44768" y="1024128"/>
            <a:ext cx="5376672" cy="1161288"/>
          </a:xfrm>
          <a:prstGeom prst="roundRect">
            <a:avLst>
              <a:gd name="adj" fmla="val 9449"/>
            </a:avLst>
          </a:prstGeom>
          <a:solidFill>
            <a:srgbClr val="20283A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271016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B82F6"/>
                </a:solidFill>
              </a:rPr>
              <a:t>01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242048" y="12252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Exports diários read-only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42048" y="16550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5C8"/>
                </a:solidFill>
              </a:rPr>
              <a:t>Quais arquivos e contas entram no piloto?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2505456"/>
            <a:ext cx="5376672" cy="1161288"/>
          </a:xfrm>
          <a:prstGeom prst="roundRect">
            <a:avLst>
              <a:gd name="adj" fmla="val 9449"/>
            </a:avLst>
          </a:prstGeom>
          <a:solidFill>
            <a:srgbClr val="20283A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752344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6D4AFF"/>
                </a:solidFill>
              </a:rPr>
              <a:t>02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242048" y="2706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Ambiente isolado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42048" y="31363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5C8"/>
                </a:solidFill>
              </a:rPr>
              <a:t>Onde o container assinado pode rodar sem escrita?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4768" y="3986784"/>
            <a:ext cx="5376672" cy="1161288"/>
          </a:xfrm>
          <a:prstGeom prst="roundRect">
            <a:avLst>
              <a:gd name="adj" fmla="val 9449"/>
            </a:avLst>
          </a:prstGeom>
          <a:solidFill>
            <a:srgbClr val="20283A"/>
          </a:solidFill>
          <a:ln w="12700">
            <a:solidFill>
              <a:srgbClr val="3944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4233672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C7A8"/>
                </a:solidFill>
              </a:rPr>
              <a:t>03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7242048" y="41879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Dono do golden set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42048" y="46177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AB5C8"/>
                </a:solidFill>
              </a:rPr>
              <a:t>Quem na Controladoria assina casos e políticas?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5559552"/>
            <a:ext cx="5376672" cy="530352"/>
          </a:xfrm>
          <a:prstGeom prst="roundRect">
            <a:avLst>
              <a:gd name="adj" fmla="val 20690"/>
            </a:avLst>
          </a:prstGeom>
          <a:solidFill>
            <a:srgbClr val="6D4A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570585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 30 dias: precisão medida, risco conhecido e uma decisão objetiva.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A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 AI SERVICES  /  DECISÃO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AA6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Barte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Vantara Concilia — o dinheiro entra, a identidade não se perde</dc:title>
  <dc:subject>Case Vantara — solução e arquitetura</dc:subject>
  <dc:creator>Barte AI Services</dc:creator>
  <cp:lastModifiedBy>Barte AI Services</cp:lastModifiedBy>
  <cp:revision>1</cp:revision>
  <dcterms:created xsi:type="dcterms:W3CDTF">2026-10-12T14:57:43Z</dcterms:created>
  <dcterms:modified xsi:type="dcterms:W3CDTF">2026-10-12T14:57:43Z</dcterms:modified>
</cp:coreProperties>
</file>